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Инновационный Центр</c:v>
                </c:pt>
              </c:strCache>
            </c:strRef>
          </c:tx>
          <c:spPr>
            <a:solidFill>
              <a:srgbClr val="F08080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01.2024</c:v>
                </c:pt>
                <c:pt idx="1">
                  <c:v>02.2024</c:v>
                </c:pt>
                <c:pt idx="2">
                  <c:v>03.2024</c:v>
                </c:pt>
                <c:pt idx="3">
                  <c:v>04.2024</c:v>
                </c:pt>
                <c:pt idx="4">
                  <c:v>05.2024</c:v>
                </c:pt>
                <c:pt idx="5">
                  <c:v>06.2024</c:v>
                </c:pt>
                <c:pt idx="6">
                  <c:v>07.2024</c:v>
                </c:pt>
                <c:pt idx="7">
                  <c:v>08.2024</c:v>
                </c:pt>
                <c:pt idx="8">
                  <c:v>09.2024</c:v>
                </c:pt>
                <c:pt idx="9">
                  <c:v>10.2024</c:v>
                </c:pt>
                <c:pt idx="10">
                  <c:v>11.2024</c:v>
                </c:pt>
                <c:pt idx="11">
                  <c:v>12.2024</c:v>
                </c:pt>
                <c:pt idx="12">
                  <c:v>01.2025</c:v>
                </c:pt>
                <c:pt idx="13">
                  <c:v>02.2025</c:v>
                </c:pt>
                <c:pt idx="14">
                  <c:v>03.2025</c:v>
                </c:pt>
                <c:pt idx="15">
                  <c:v>04.2025</c:v>
                </c:pt>
                <c:pt idx="16">
                  <c:v>05.2025</c:v>
                </c:pt>
                <c:pt idx="17">
                  <c:v>06.2025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25.07836990595611</c:v>
                </c:pt>
                <c:pt idx="1">
                  <c:v>17.86833855799373</c:v>
                </c:pt>
                <c:pt idx="2">
                  <c:v>17.24137931034483</c:v>
                </c:pt>
                <c:pt idx="3">
                  <c:v>15.987460815047022</c:v>
                </c:pt>
                <c:pt idx="4">
                  <c:v>17.86833855799373</c:v>
                </c:pt>
                <c:pt idx="5">
                  <c:v>20.06269592476489</c:v>
                </c:pt>
                <c:pt idx="6">
                  <c:v>24.137931034482758</c:v>
                </c:pt>
                <c:pt idx="7">
                  <c:v>21.316614420062695</c:v>
                </c:pt>
                <c:pt idx="8">
                  <c:v>21.9435736677116</c:v>
                </c:pt>
                <c:pt idx="9">
                  <c:v>23.197492163009404</c:v>
                </c:pt>
                <c:pt idx="10">
                  <c:v>17.86833855799373</c:v>
                </c:pt>
                <c:pt idx="11">
                  <c:v>22.25705329153605</c:v>
                </c:pt>
                <c:pt idx="12">
                  <c:v>23.197492163009404</c:v>
                </c:pt>
                <c:pt idx="13">
                  <c:v>16.614420062695924</c:v>
                </c:pt>
                <c:pt idx="14">
                  <c:v>20.06269592476489</c:v>
                </c:pt>
                <c:pt idx="15">
                  <c:v>18.495297805642632</c:v>
                </c:pt>
                <c:pt idx="16">
                  <c:v>18.808777429467085</c:v>
                </c:pt>
                <c:pt idx="17">
                  <c:v>25.391849529780565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E8-4615-A187-7658A594CC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Морской Бриз</c:v>
                </c:pt>
              </c:strCache>
            </c:strRef>
          </c:tx>
          <c:spPr>
            <a:solidFill>
              <a:srgbClr val="6495ED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01.2024</c:v>
                </c:pt>
                <c:pt idx="1">
                  <c:v>02.2024</c:v>
                </c:pt>
                <c:pt idx="2">
                  <c:v>03.2024</c:v>
                </c:pt>
                <c:pt idx="3">
                  <c:v>04.2024</c:v>
                </c:pt>
                <c:pt idx="4">
                  <c:v>05.2024</c:v>
                </c:pt>
                <c:pt idx="5">
                  <c:v>06.2024</c:v>
                </c:pt>
                <c:pt idx="6">
                  <c:v>07.2024</c:v>
                </c:pt>
                <c:pt idx="7">
                  <c:v>08.2024</c:v>
                </c:pt>
                <c:pt idx="8">
                  <c:v>09.2024</c:v>
                </c:pt>
                <c:pt idx="9">
                  <c:v>10.2024</c:v>
                </c:pt>
                <c:pt idx="10">
                  <c:v>11.2024</c:v>
                </c:pt>
                <c:pt idx="11">
                  <c:v>12.2024</c:v>
                </c:pt>
                <c:pt idx="12">
                  <c:v>01.2025</c:v>
                </c:pt>
                <c:pt idx="13">
                  <c:v>02.2025</c:v>
                </c:pt>
                <c:pt idx="14">
                  <c:v>03.2025</c:v>
                </c:pt>
                <c:pt idx="15">
                  <c:v>04.2025</c:v>
                </c:pt>
                <c:pt idx="16">
                  <c:v>05.2025</c:v>
                </c:pt>
                <c:pt idx="17">
                  <c:v>06.2025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23.510971786833856</c:v>
                </c:pt>
                <c:pt idx="1">
                  <c:v>21.003134796238246</c:v>
                </c:pt>
                <c:pt idx="2">
                  <c:v>26.959247648902824</c:v>
                </c:pt>
                <c:pt idx="3">
                  <c:v>22.25705329153605</c:v>
                </c:pt>
                <c:pt idx="4">
                  <c:v>21.9435736677116</c:v>
                </c:pt>
                <c:pt idx="5">
                  <c:v>27.27272727272727</c:v>
                </c:pt>
                <c:pt idx="6">
                  <c:v>24.45141065830721</c:v>
                </c:pt>
                <c:pt idx="7">
                  <c:v>16.30094043887147</c:v>
                </c:pt>
                <c:pt idx="8">
                  <c:v>26.959247648902824</c:v>
                </c:pt>
                <c:pt idx="9">
                  <c:v>28.84012539184953</c:v>
                </c:pt>
                <c:pt idx="10">
                  <c:v>23.197492163009404</c:v>
                </c:pt>
                <c:pt idx="11">
                  <c:v>25.705329153605017</c:v>
                </c:pt>
                <c:pt idx="12">
                  <c:v>25.705329153605017</c:v>
                </c:pt>
                <c:pt idx="13">
                  <c:v>22.25705329153605</c:v>
                </c:pt>
                <c:pt idx="14">
                  <c:v>28.526645768025077</c:v>
                </c:pt>
                <c:pt idx="15">
                  <c:v>17.24137931034483</c:v>
                </c:pt>
                <c:pt idx="16">
                  <c:v>25.705329153605017</c:v>
                </c:pt>
                <c:pt idx="17">
                  <c:v>21.630094043887148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E8-4615-A187-7658A594CC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Северное Сияние</c:v>
                </c:pt>
              </c:strCache>
            </c:strRef>
          </c:tx>
          <c:spPr>
            <a:solidFill>
              <a:srgbClr val="F4A460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01.2024</c:v>
                </c:pt>
                <c:pt idx="1">
                  <c:v>02.2024</c:v>
                </c:pt>
                <c:pt idx="2">
                  <c:v>03.2024</c:v>
                </c:pt>
                <c:pt idx="3">
                  <c:v>04.2024</c:v>
                </c:pt>
                <c:pt idx="4">
                  <c:v>05.2024</c:v>
                </c:pt>
                <c:pt idx="5">
                  <c:v>06.2024</c:v>
                </c:pt>
                <c:pt idx="6">
                  <c:v>07.2024</c:v>
                </c:pt>
                <c:pt idx="7">
                  <c:v>08.2024</c:v>
                </c:pt>
                <c:pt idx="8">
                  <c:v>09.2024</c:v>
                </c:pt>
                <c:pt idx="9">
                  <c:v>10.2024</c:v>
                </c:pt>
                <c:pt idx="10">
                  <c:v>11.2024</c:v>
                </c:pt>
                <c:pt idx="11">
                  <c:v>12.2024</c:v>
                </c:pt>
                <c:pt idx="12">
                  <c:v>01.2025</c:v>
                </c:pt>
                <c:pt idx="13">
                  <c:v>02.2025</c:v>
                </c:pt>
                <c:pt idx="14">
                  <c:v>03.2025</c:v>
                </c:pt>
                <c:pt idx="15">
                  <c:v>04.2025</c:v>
                </c:pt>
                <c:pt idx="16">
                  <c:v>05.2025</c:v>
                </c:pt>
                <c:pt idx="17">
                  <c:v>06.2025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21.630094043887148</c:v>
                </c:pt>
                <c:pt idx="1">
                  <c:v>21.316614420062695</c:v>
                </c:pt>
                <c:pt idx="2">
                  <c:v>30.407523510971785</c:v>
                </c:pt>
                <c:pt idx="3">
                  <c:v>23.824451410658305</c:v>
                </c:pt>
                <c:pt idx="4">
                  <c:v>19.74921630094044</c:v>
                </c:pt>
                <c:pt idx="5">
                  <c:v>26.64576802507837</c:v>
                </c:pt>
                <c:pt idx="6">
                  <c:v>22.570532915360502</c:v>
                </c:pt>
                <c:pt idx="7">
                  <c:v>24.45141065830721</c:v>
                </c:pt>
                <c:pt idx="8">
                  <c:v>23.197492163009404</c:v>
                </c:pt>
                <c:pt idx="9">
                  <c:v>26.64576802507837</c:v>
                </c:pt>
                <c:pt idx="10">
                  <c:v>28.213166144200624</c:v>
                </c:pt>
                <c:pt idx="11">
                  <c:v>21.316614420062695</c:v>
                </c:pt>
                <c:pt idx="12">
                  <c:v>26.332288401253916</c:v>
                </c:pt>
                <c:pt idx="13">
                  <c:v>20.06269592476489</c:v>
                </c:pt>
                <c:pt idx="14">
                  <c:v>26.959247648902824</c:v>
                </c:pt>
                <c:pt idx="15">
                  <c:v>15.673981191222571</c:v>
                </c:pt>
                <c:pt idx="16">
                  <c:v>21.316614420062695</c:v>
                </c:pt>
                <c:pt idx="17">
                  <c:v>33.5423197492163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E8-4615-A187-7658A594CC9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Спелый Колос</c:v>
                </c:pt>
              </c:strCache>
            </c:strRef>
          </c:tx>
          <c:spPr>
            <a:solidFill>
              <a:srgbClr val="8FBC8F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01.2024</c:v>
                </c:pt>
                <c:pt idx="1">
                  <c:v>02.2024</c:v>
                </c:pt>
                <c:pt idx="2">
                  <c:v>03.2024</c:v>
                </c:pt>
                <c:pt idx="3">
                  <c:v>04.2024</c:v>
                </c:pt>
                <c:pt idx="4">
                  <c:v>05.2024</c:v>
                </c:pt>
                <c:pt idx="5">
                  <c:v>06.2024</c:v>
                </c:pt>
                <c:pt idx="6">
                  <c:v>07.2024</c:v>
                </c:pt>
                <c:pt idx="7">
                  <c:v>08.2024</c:v>
                </c:pt>
                <c:pt idx="8">
                  <c:v>09.2024</c:v>
                </c:pt>
                <c:pt idx="9">
                  <c:v>10.2024</c:v>
                </c:pt>
                <c:pt idx="10">
                  <c:v>11.2024</c:v>
                </c:pt>
                <c:pt idx="11">
                  <c:v>12.2024</c:v>
                </c:pt>
                <c:pt idx="12">
                  <c:v>01.2025</c:v>
                </c:pt>
                <c:pt idx="13">
                  <c:v>02.2025</c:v>
                </c:pt>
                <c:pt idx="14">
                  <c:v>03.2025</c:v>
                </c:pt>
                <c:pt idx="15">
                  <c:v>04.2025</c:v>
                </c:pt>
                <c:pt idx="16">
                  <c:v>05.2025</c:v>
                </c:pt>
                <c:pt idx="17">
                  <c:v>06.2025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20.37617554858934</c:v>
                </c:pt>
                <c:pt idx="1">
                  <c:v>23.824451410658305</c:v>
                </c:pt>
                <c:pt idx="2">
                  <c:v>33.22884012539185</c:v>
                </c:pt>
                <c:pt idx="3">
                  <c:v>21.003134796238246</c:v>
                </c:pt>
                <c:pt idx="4">
                  <c:v>21.630094043887148</c:v>
                </c:pt>
                <c:pt idx="5">
                  <c:v>23.510971786833856</c:v>
                </c:pt>
                <c:pt idx="6">
                  <c:v>25.07836990595611</c:v>
                </c:pt>
                <c:pt idx="7">
                  <c:v>20.689655172413794</c:v>
                </c:pt>
                <c:pt idx="8">
                  <c:v>33.22884012539185</c:v>
                </c:pt>
                <c:pt idx="9">
                  <c:v>30.721003134796238</c:v>
                </c:pt>
                <c:pt idx="10">
                  <c:v>29.780564263322884</c:v>
                </c:pt>
                <c:pt idx="11">
                  <c:v>27.27272727272727</c:v>
                </c:pt>
                <c:pt idx="12">
                  <c:v>20.37617554858934</c:v>
                </c:pt>
                <c:pt idx="13">
                  <c:v>24.76489028213166</c:v>
                </c:pt>
                <c:pt idx="14">
                  <c:v>24.45141065830721</c:v>
                </c:pt>
                <c:pt idx="15">
                  <c:v>21.9435736677116</c:v>
                </c:pt>
                <c:pt idx="16">
                  <c:v>21.9435736677116</c:v>
                </c:pt>
                <c:pt idx="17">
                  <c:v>21.9435736677116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E8-4615-A187-7658A594CC9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Точный Расчёт</c:v>
                </c:pt>
              </c:strCache>
            </c:strRef>
          </c:tx>
          <c:spPr>
            <a:solidFill>
              <a:srgbClr val="BA8CC3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01.2024</c:v>
                </c:pt>
                <c:pt idx="1">
                  <c:v>02.2024</c:v>
                </c:pt>
                <c:pt idx="2">
                  <c:v>03.2024</c:v>
                </c:pt>
                <c:pt idx="3">
                  <c:v>04.2024</c:v>
                </c:pt>
                <c:pt idx="4">
                  <c:v>05.2024</c:v>
                </c:pt>
                <c:pt idx="5">
                  <c:v>06.2024</c:v>
                </c:pt>
                <c:pt idx="6">
                  <c:v>07.2024</c:v>
                </c:pt>
                <c:pt idx="7">
                  <c:v>08.2024</c:v>
                </c:pt>
                <c:pt idx="8">
                  <c:v>09.2024</c:v>
                </c:pt>
                <c:pt idx="9">
                  <c:v>10.2024</c:v>
                </c:pt>
                <c:pt idx="10">
                  <c:v>11.2024</c:v>
                </c:pt>
                <c:pt idx="11">
                  <c:v>12.2024</c:v>
                </c:pt>
                <c:pt idx="12">
                  <c:v>01.2025</c:v>
                </c:pt>
                <c:pt idx="13">
                  <c:v>02.2025</c:v>
                </c:pt>
                <c:pt idx="14">
                  <c:v>03.2025</c:v>
                </c:pt>
                <c:pt idx="15">
                  <c:v>04.2025</c:v>
                </c:pt>
                <c:pt idx="16">
                  <c:v>05.2025</c:v>
                </c:pt>
                <c:pt idx="17">
                  <c:v>06.2025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38.87147335423197</c:v>
                </c:pt>
                <c:pt idx="1">
                  <c:v>23.510971786833856</c:v>
                </c:pt>
                <c:pt idx="2">
                  <c:v>24.137931034482758</c:v>
                </c:pt>
                <c:pt idx="3">
                  <c:v>23.510971786833856</c:v>
                </c:pt>
                <c:pt idx="4">
                  <c:v>30.094043887147336</c:v>
                </c:pt>
                <c:pt idx="5">
                  <c:v>33.22884012539185</c:v>
                </c:pt>
                <c:pt idx="6">
                  <c:v>30.094043887147336</c:v>
                </c:pt>
                <c:pt idx="7">
                  <c:v>31.347962382445143</c:v>
                </c:pt>
                <c:pt idx="8">
                  <c:v>36.36363636363637</c:v>
                </c:pt>
                <c:pt idx="9">
                  <c:v>27.89968652037618</c:v>
                </c:pt>
                <c:pt idx="10">
                  <c:v>30.721003134796238</c:v>
                </c:pt>
                <c:pt idx="11">
                  <c:v>24.76489028213166</c:v>
                </c:pt>
                <c:pt idx="12">
                  <c:v>33.5423197492163</c:v>
                </c:pt>
                <c:pt idx="13">
                  <c:v>29.780564263322884</c:v>
                </c:pt>
                <c:pt idx="14">
                  <c:v>25.391849529780565</c:v>
                </c:pt>
                <c:pt idx="15">
                  <c:v>28.526645768025077</c:v>
                </c:pt>
                <c:pt idx="16">
                  <c:v>28.213166144200624</c:v>
                </c:pt>
                <c:pt idx="17">
                  <c:v>38.557993730407524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E8-4615-A187-7658A594CC92}"/>
            </c:ext>
          </c:extLst>
        </c:ser>
        <c:dLbls>
          <c:numFmt formatCode="0.0" sourceLinked="0"/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89851312"/>
        <c:axId val="1489848400"/>
      </c:barChart>
      <c:catAx>
        <c:axId val="148985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9848400"/>
        <c:crosses val="autoZero"/>
        <c:auto val="1"/>
        <c:lblAlgn val="ctr"/>
        <c:lblOffset val="100"/>
        <c:noMultiLvlLbl val="0"/>
      </c:catAx>
      <c:valAx>
        <c:axId val="148984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9851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84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99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90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453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3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73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395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941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79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84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192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22566-F1EB-41DA-A1E8-2F6E0252E65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FFD61-4C8E-45E1-940D-6383C0ED4E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29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Анализ рекламных кампаний на ТВ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Целевая аудитория: мужчины от 25 до 40 лет со средним доходом</a:t>
            </a:r>
            <a:endParaRPr lang="ru-RU"/>
          </a:p>
          <a:p>
            <a:r>
              <a:t>Период: январь 2024 – июль 2025</a:t>
            </a:r>
          </a:p>
        </p:txBody>
      </p:sp>
    </p:spTree>
    <p:extLst>
      <p:ext uri="{BB962C8B-B14F-4D97-AF65-F5344CB8AC3E}">
        <p14:creationId xmlns:p14="http://schemas.microsoft.com/office/powerpoint/2010/main" val="3755455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Топ-5 рекламодателей по охвату аудитории</a:t>
            </a:r>
            <a:endParaRPr lang="ru-RU" sz="3200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807419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978323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91188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Рекламодатель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Охват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913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Точный Расчёт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17.91%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10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Спелый Колос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64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Морской Бриз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881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Северное Сияние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187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Инновационный Центр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542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664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TRP</a:t>
            </a:r>
            <a:r>
              <a:rPr lang="ru-RU" sz="3200" dirty="0" smtClean="0"/>
              <a:t> рекламодателей по месяцам</a:t>
            </a:r>
            <a:endParaRPr lang="ru-RU" sz="3200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78799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23984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55</Words>
  <PresentationFormat>Широкоэкранный</PresentationFormat>
  <Paragraphs>17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Анализ рекламных кампаний на ТВ</vt:lpstr>
      <vt:lpstr>Топ-5 рекламодателей по охвату аудитории</vt:lpstr>
      <vt:lpstr>TRP рекламодателей по месяцам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2026-10-22T13:35:38Z</dcterms:created>
  <dcterms:modified xsi:type="dcterms:W3CDTF">2026-10-25T20:18:52Z</dcterms:modified>
</cp:coreProperties>
</file>